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6" r:id="rId11"/>
    <p:sldId id="267" r:id="rId12"/>
    <p:sldId id="268" r:id="rId13"/>
    <p:sldId id="269" r:id="rId14"/>
    <p:sldId id="272" r:id="rId15"/>
    <p:sldId id="270" r:id="rId16"/>
    <p:sldId id="271" r:id="rId17"/>
    <p:sldId id="273" r:id="rId18"/>
    <p:sldId id="262" r:id="rId19"/>
  </p:sldIdLst>
  <p:sldSz cx="9144000" cy="6858000" type="screen4x3"/>
  <p:notesSz cx="6858000" cy="9144000"/>
  <p:custDataLst>
    <p:tags r:id="rId21"/>
  </p:custDataLst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539AD-6EED-32A6-2FE3-4B2856D6E505}" v="209" dt="2026-02-21T05:47:00.723"/>
    <p1510:client id="{F545D5A4-F227-40D4-B38E-104386478A2C}" v="24" dt="2026-02-20T14:34:49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4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451ef95cadb01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g3451ef95cadb01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811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51ef95cadb01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451ef95cadb01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51000536_Development_of_a_Web-Based_Complaint_Management_Platform_for_a_University_Communit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>
            <a:spLocks noGrp="1"/>
          </p:cNvSpPr>
          <p:nvPr>
            <p:ph type="body" idx="1"/>
          </p:nvPr>
        </p:nvSpPr>
        <p:spPr>
          <a:xfrm>
            <a:off x="661631" y="4104080"/>
            <a:ext cx="8229600" cy="23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220" lvl="0" indent="0" algn="l" rtl="0">
              <a:spcBef>
                <a:spcPts val="0"/>
              </a:spcBef>
              <a:spcAft>
                <a:spcPts val="0"/>
              </a:spcAft>
              <a:buSzPts val="1632"/>
              <a:buNone/>
            </a:pPr>
            <a:r>
              <a:rPr lang="en-US" sz="2400" b="1" dirty="0"/>
              <a:t>Team Members(Batch-03)</a:t>
            </a:r>
            <a:endParaRPr lang="en-US" dirty="0">
              <a:cs typeface="Lucida Sans Unicode"/>
            </a:endParaRPr>
          </a:p>
          <a:p>
            <a:pPr marL="621665" lvl="1">
              <a:lnSpc>
                <a:spcPct val="150000"/>
              </a:lnSpc>
              <a:buSzPts val="2000"/>
            </a:pPr>
            <a:r>
              <a:rPr lang="en-US" sz="2000" b="1" dirty="0"/>
              <a:t>Juweriya Jasmin-24B81A66M1</a:t>
            </a:r>
            <a:endParaRPr lang="en-US" sz="2000" b="1" dirty="0">
              <a:cs typeface="Lucida Sans Unicode"/>
            </a:endParaRPr>
          </a:p>
          <a:p>
            <a:pPr marL="621665" lvl="1">
              <a:lnSpc>
                <a:spcPct val="150000"/>
              </a:lnSpc>
              <a:buSzPts val="2000"/>
            </a:pPr>
            <a:r>
              <a:rPr lang="en-US" sz="2000" b="1" dirty="0" err="1"/>
              <a:t>N.Priyanka</a:t>
            </a:r>
            <a:r>
              <a:rPr lang="en-US" sz="2000" b="1" dirty="0"/>
              <a:t>– 24B81A66N6</a:t>
            </a:r>
            <a:endParaRPr dirty="0">
              <a:cs typeface="Lucida Sans Unicode"/>
            </a:endParaRPr>
          </a:p>
          <a:p>
            <a:pPr marL="621665" lvl="1">
              <a:lnSpc>
                <a:spcPct val="150000"/>
              </a:lnSpc>
              <a:buSzPts val="2000"/>
            </a:pPr>
            <a:r>
              <a:rPr lang="en-US" sz="2000" b="1" dirty="0" err="1"/>
              <a:t>K.Saraswathi</a:t>
            </a:r>
            <a:r>
              <a:rPr lang="en-US" sz="2000" b="1" dirty="0"/>
              <a:t>– 24B81A66P5</a:t>
            </a:r>
            <a:endParaRPr dirty="0">
              <a:cs typeface="Lucida Sans Unicode"/>
            </a:endParaRPr>
          </a:p>
          <a:p>
            <a:pPr marL="365760" lvl="0" indent="-1524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32"/>
              <a:buNone/>
            </a:pPr>
            <a:endParaRPr sz="2400" b="1" dirty="0"/>
          </a:p>
        </p:txBody>
      </p:sp>
      <p:sp>
        <p:nvSpPr>
          <p:cNvPr id="34" name="Google Shape;34;p1"/>
          <p:cNvSpPr txBox="1">
            <a:spLocks noGrp="1"/>
          </p:cNvSpPr>
          <p:nvPr>
            <p:ph type="title"/>
          </p:nvPr>
        </p:nvSpPr>
        <p:spPr>
          <a:xfrm>
            <a:off x="1042243" y="207727"/>
            <a:ext cx="799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CVR COLLEGE OF ENGINEERING</a:t>
            </a:r>
            <a:endParaRPr sz="40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451997" y="1505855"/>
            <a:ext cx="8229600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000099"/>
                </a:solidFill>
                <a:latin typeface="Lucida Sans"/>
                <a:ea typeface="Lucida Sans"/>
                <a:cs typeface="Lucida Sans"/>
                <a:sym typeface="Lucida Sans"/>
              </a:rPr>
              <a:t>Real-Time /Based Research Project -1</a:t>
            </a:r>
            <a:endParaRPr lang="en-US" sz="3600" b="1" dirty="0">
              <a:solidFill>
                <a:srgbClr val="000099"/>
              </a:solidFill>
              <a:latin typeface="Lucida Sans"/>
              <a:ea typeface="Lucida Sans"/>
              <a:cs typeface="Lucida Sans"/>
            </a:endParaRPr>
          </a:p>
          <a:p>
            <a:pPr algn="ctr"/>
            <a:r>
              <a:rPr lang="en-US" sz="3200" b="1" dirty="0">
                <a:solidFill>
                  <a:srgbClr val="000099"/>
                </a:solidFill>
                <a:latin typeface="Lucida Sans"/>
                <a:ea typeface="Lucida Sans"/>
                <a:cs typeface="Lucida Sans"/>
              </a:rPr>
              <a:t>Digital Campus Maintenance and Complaint Management System</a:t>
            </a:r>
          </a:p>
        </p:txBody>
      </p:sp>
      <p:pic>
        <p:nvPicPr>
          <p:cNvPr id="36" name="Google Shape;36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9512" y="314214"/>
            <a:ext cx="971600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 txBox="1"/>
          <p:nvPr/>
        </p:nvSpPr>
        <p:spPr>
          <a:xfrm>
            <a:off x="1381361" y="1050603"/>
            <a:ext cx="684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Department of CSE(AI&amp;ML)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5380784" y="4333882"/>
            <a:ext cx="3651476" cy="19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dirty="0"/>
          </a:p>
          <a:p>
            <a:pPr algn="ctr">
              <a:spcBef>
                <a:spcPts val="1000"/>
              </a:spcBef>
              <a:buSzPts val="2400"/>
            </a:pPr>
            <a:r>
              <a:rPr lang="en-US" sz="2400" dirty="0" err="1">
                <a:latin typeface="Times New Roman"/>
                <a:ea typeface="Times New Roman"/>
                <a:cs typeface="Times New Roman"/>
              </a:rPr>
              <a:t>Dr.K.H.VijayaKumari</a:t>
            </a:r>
            <a:endParaRPr lang="en-US" sz="2400">
              <a:latin typeface="Times New Roman"/>
              <a:ea typeface="Times New Roman"/>
              <a:cs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 err="1">
                <a:latin typeface="Times New Roman"/>
                <a:ea typeface="Times New Roman"/>
                <a:cs typeface="Times New Roman"/>
              </a:rPr>
              <a:t>Assoc.Professor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body" idx="1"/>
          </p:nvPr>
        </p:nvSpPr>
        <p:spPr>
          <a:xfrm>
            <a:off x="457200" y="929550"/>
            <a:ext cx="8229600" cy="59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  <a:p>
            <a:pPr marL="457200" lvl="0" indent="-306324" algn="l" rtl="0">
              <a:spcBef>
                <a:spcPts val="40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software requirements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Methodology/Techniques(System architecture)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and non functional requirements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6324" algn="l" rtl="0">
              <a:spcBef>
                <a:spcPts val="0"/>
              </a:spcBef>
              <a:spcAft>
                <a:spcPts val="0"/>
              </a:spcAft>
              <a:buSzPts val="1224"/>
              <a:buChar char="🞂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/>
          </a:p>
        </p:txBody>
      </p:sp>
      <p:sp>
        <p:nvSpPr>
          <p:cNvPr id="47" name="Google Shape;47;p2"/>
          <p:cNvSpPr txBox="1">
            <a:spLocks noGrp="1"/>
          </p:cNvSpPr>
          <p:nvPr>
            <p:ph type="title"/>
          </p:nvPr>
        </p:nvSpPr>
        <p:spPr>
          <a:xfrm>
            <a:off x="457200" y="274645"/>
            <a:ext cx="82296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5858" y="994240"/>
            <a:ext cx="8229600" cy="4525963"/>
          </a:xfrm>
        </p:spPr>
        <p:txBody>
          <a:bodyPr vert="horz" lIns="91440" tIns="45720" rIns="91440" bIns="45720" anchor="t">
            <a:noAutofit/>
          </a:bodyPr>
          <a:lstStyle/>
          <a:p>
            <a:pPr indent="-255905" algn="just"/>
            <a:r>
              <a:rPr lang="en-US" sz="2400" dirty="0">
                <a:latin typeface="Times New Roman"/>
                <a:ea typeface="+mn-lt"/>
                <a:cs typeface="+mn-lt"/>
              </a:rPr>
              <a:t>Manual reporting of complaints causes delays, poor tracking, and lack of accountability.</a:t>
            </a:r>
          </a:p>
          <a:p>
            <a:pPr indent="-255905" algn="just"/>
            <a:r>
              <a:rPr lang="en-US" sz="2400" dirty="0">
                <a:latin typeface="Times New Roman"/>
                <a:ea typeface="+mn-lt"/>
                <a:cs typeface="+mn-lt"/>
              </a:rPr>
              <a:t>The Digital Campus Maintenance and Complaint Management</a:t>
            </a:r>
            <a:r>
              <a:rPr lang="en-US" sz="24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2400" dirty="0">
                <a:latin typeface="Times New Roman"/>
                <a:ea typeface="+mn-lt"/>
                <a:cs typeface="+mn-lt"/>
              </a:rPr>
              <a:t>System is a web-based platform for efficient issue reporting and tracking.</a:t>
            </a:r>
          </a:p>
          <a:p>
            <a:pPr indent="-255905" algn="just"/>
            <a:r>
              <a:rPr lang="en-US" sz="2400" dirty="0">
                <a:latin typeface="Times New Roman"/>
                <a:ea typeface="+mn-lt"/>
                <a:cs typeface="+mn-lt"/>
              </a:rPr>
              <a:t>Students can securely report issues by selecting category, location, and description.</a:t>
            </a:r>
          </a:p>
          <a:p>
            <a:pPr indent="-255905" algn="just"/>
            <a:r>
              <a:rPr lang="en-US" sz="2400" dirty="0">
                <a:latin typeface="Times New Roman"/>
                <a:ea typeface="+mn-lt"/>
                <a:cs typeface="+mn-lt"/>
              </a:rPr>
              <a:t>Administrators can view complaints, assign them to maintenance staff, and update issue status.</a:t>
            </a:r>
          </a:p>
          <a:p>
            <a:pPr indent="-255905" algn="just"/>
            <a:r>
              <a:rPr lang="en-US" sz="2400" dirty="0">
                <a:latin typeface="Times New Roman"/>
                <a:ea typeface="+mn-lt"/>
                <a:cs typeface="+mn-lt"/>
              </a:rPr>
              <a:t>The system improves transparency, reduces paperwork, speeds up resolution, and enhances campus infrastructure management.</a:t>
            </a:r>
            <a:endParaRPr lang="en-US" sz="2400" dirty="0">
              <a:latin typeface="Times New Roman"/>
              <a:ea typeface="Calibri"/>
              <a:cs typeface="Lucida Sans Unicode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97657"/>
            <a:ext cx="82296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65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8075F-E4BE-EAC8-4122-7636668FF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00" y="1302786"/>
            <a:ext cx="8229600" cy="4525963"/>
          </a:xfrm>
        </p:spPr>
        <p:txBody>
          <a:bodyPr vert="horz" lIns="91440" tIns="45720" rIns="91440" bIns="45720" anchor="t">
            <a:noAutofit/>
          </a:bodyPr>
          <a:lstStyle/>
          <a:p>
            <a:pPr indent="-255905" algn="just"/>
            <a:r>
              <a:rPr lang="en-US" sz="2400" dirty="0">
                <a:latin typeface="Times New Roman"/>
                <a:ea typeface="+mn-lt"/>
                <a:cs typeface="Times New Roman"/>
              </a:rPr>
              <a:t>Educational institutions consist of large campuses with various facilities such as classrooms, laboratories, hostels, and administrative blocks.</a:t>
            </a:r>
            <a:endParaRPr lang="en-US" sz="2400" dirty="0">
              <a:latin typeface="Times New Roman"/>
              <a:cs typeface="Times New Roman"/>
            </a:endParaRPr>
          </a:p>
          <a:p>
            <a:pPr indent="-255905" algn="just"/>
            <a:r>
              <a:rPr lang="en-US" sz="2400" dirty="0">
                <a:latin typeface="Times New Roman"/>
                <a:ea typeface="+mn-lt"/>
                <a:cs typeface="Times New Roman"/>
              </a:rPr>
              <a:t>Regular maintenance of these facilities is essential for smooth campus operations.</a:t>
            </a:r>
          </a:p>
          <a:p>
            <a:pPr indent="-255905" algn="just"/>
            <a:r>
              <a:rPr lang="en-US" sz="2400" dirty="0">
                <a:latin typeface="Times New Roman"/>
                <a:ea typeface="+mn-lt"/>
                <a:cs typeface="Times New Roman"/>
              </a:rPr>
              <a:t>It is designed to provide an online platform for registering and managing complaints.</a:t>
            </a:r>
            <a:endParaRPr lang="en-US" sz="2400" dirty="0">
              <a:latin typeface="Times New Roman"/>
              <a:cs typeface="Times New Roman"/>
            </a:endParaRPr>
          </a:p>
          <a:p>
            <a:pPr indent="-255905" algn="just"/>
            <a:r>
              <a:rPr lang="en-US" sz="2400" dirty="0">
                <a:latin typeface="Times New Roman"/>
                <a:ea typeface="+mn-lt"/>
                <a:cs typeface="Times New Roman"/>
              </a:rPr>
              <a:t>The Digital Campus Maintenance and Complaint Management System is developed to manage maintenance-related and complaints in a structured and organized manner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5C60AC-4064-7844-932B-2003CE2CA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9861"/>
            <a:ext cx="8229600" cy="5155636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require continuous maintenance of infrastructure such as classrooms, laboratories, hostels, and utility services.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many campuses, maintenance issues are still reported through manual methods like complaint registers, verbal communication, or phone calls.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creates many problems such as: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response time due to lack of proper communication channel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complaint status for students and staff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 to record and manage complaints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and accountability in issue resolution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50E626-E4F1-C123-0901-A034A8597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63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48BBCE-2F02-E37E-2591-BD4FE7A2E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523"/>
            <a:ext cx="8229600" cy="4011561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Exisisting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System:</a:t>
            </a:r>
          </a:p>
          <a:p>
            <a:pPr marL="109728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sz="2400" dirty="0"/>
              <a:t>     •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identifies a maintenance issue on campus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• The complaint is reported through a register, verbal     communication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• Administrative staff manually record the complaint details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• Maintenance staff are informed about the issue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• The issue is resolved based on staff availability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• No online system is used for monitoring or management</a:t>
            </a:r>
          </a:p>
          <a:p>
            <a:pPr marL="109728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562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BB85C0-779B-AECF-F57D-B889D0629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58" y="963561"/>
            <a:ext cx="8229600" cy="4699602"/>
          </a:xfrm>
        </p:spPr>
        <p:txBody>
          <a:bodyPr vert="horz" lIns="91440" tIns="45720" rIns="91440" bIns="45720" anchor="t">
            <a:normAutofit/>
          </a:bodyPr>
          <a:lstStyle/>
          <a:p>
            <a:pPr marL="109728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indent="-255905" algn="just"/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dirty="0"/>
              <a:t> </a:t>
            </a:r>
            <a:r>
              <a:rPr lang="en-US" sz="2400">
                <a:latin typeface="Times New Roman"/>
                <a:cs typeface="Times New Roman"/>
              </a:rPr>
              <a:t>develop a  digital platform for complaint </a:t>
            </a:r>
            <a:r>
              <a:rPr lang="en-US" sz="2400" dirty="0">
                <a:latin typeface="Times New Roman"/>
                <a:cs typeface="Times New Roman"/>
              </a:rPr>
              <a:t>management</a:t>
            </a:r>
          </a:p>
          <a:p>
            <a:pPr indent="-255905" algn="just"/>
            <a:r>
              <a:rPr lang="en-US" sz="2400" dirty="0">
                <a:latin typeface="Times New Roman"/>
                <a:cs typeface="Times New Roman"/>
              </a:rPr>
              <a:t>To provide an easy way for users to register complaints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maintenance response time</a:t>
            </a:r>
          </a:p>
          <a:p>
            <a:pPr indent="-255905" algn="just"/>
            <a:r>
              <a:rPr lang="en-US" sz="2400" dirty="0">
                <a:latin typeface="Times New Roman"/>
                <a:cs typeface="Times New Roman"/>
              </a:rPr>
              <a:t>To maintain a centralized database of complaints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tracking of complaint status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paperwork and manual work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indent="0">
              <a:buNone/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74204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49748" y="2057399"/>
            <a:ext cx="8229600" cy="4525963"/>
          </a:xfrm>
        </p:spPr>
        <p:txBody>
          <a:bodyPr vert="horz" lIns="91440" tIns="45720" rIns="91440" bIns="45720" anchor="t">
            <a:normAutofit/>
          </a:bodyPr>
          <a:lstStyle/>
          <a:p>
            <a:pPr indent="-255905"/>
            <a:r>
              <a:rPr lang="en-US" b="1" dirty="0">
                <a:latin typeface="Calibri"/>
                <a:ea typeface="Calibri"/>
                <a:cs typeface="Calibri"/>
              </a:rPr>
              <a:t>Languages:</a:t>
            </a:r>
            <a:r>
              <a:rPr lang="en-US" sz="2400" b="1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Times New Roman"/>
                <a:ea typeface="Calibri"/>
                <a:cs typeface="Calibri"/>
              </a:rPr>
              <a:t>Python,HTML,CSS</a:t>
            </a:r>
            <a:endParaRPr lang="en-US" sz="2400" dirty="0">
              <a:latin typeface="Times New Roman"/>
              <a:ea typeface="Calibri"/>
              <a:cs typeface="Calibri"/>
            </a:endParaRPr>
          </a:p>
          <a:p>
            <a:pPr indent="-255905"/>
            <a:r>
              <a:rPr lang="en-US" b="1" dirty="0" err="1">
                <a:latin typeface="Calibri"/>
                <a:ea typeface="Calibri"/>
                <a:cs typeface="Calibri"/>
              </a:rPr>
              <a:t>Database:</a:t>
            </a:r>
            <a:r>
              <a:rPr lang="en-US" sz="2400" dirty="0" err="1">
                <a:latin typeface="Times New Roman"/>
                <a:ea typeface="Calibri"/>
                <a:cs typeface="Calibri"/>
              </a:rPr>
              <a:t>MYSQL</a:t>
            </a:r>
            <a:endParaRPr lang="en-US" sz="2400" dirty="0">
              <a:latin typeface="Times New Roman"/>
              <a:ea typeface="Calibri"/>
              <a:cs typeface="Calibri" pitchFamily="34" charset="0"/>
            </a:endParaRPr>
          </a:p>
          <a:p>
            <a:pPr indent="-255905"/>
            <a:r>
              <a:rPr lang="en-US" b="1" dirty="0">
                <a:latin typeface="Calibri"/>
                <a:ea typeface="Calibri"/>
                <a:cs typeface="Calibri"/>
              </a:rPr>
              <a:t>Tools/</a:t>
            </a:r>
            <a:r>
              <a:rPr lang="en-US" b="1" dirty="0" err="1">
                <a:latin typeface="Calibri"/>
                <a:ea typeface="Calibri"/>
                <a:cs typeface="Calibri"/>
              </a:rPr>
              <a:t>IDEs</a:t>
            </a:r>
            <a:r>
              <a:rPr lang="en-US" sz="2400" b="1" dirty="0" err="1">
                <a:latin typeface="Times New Roman"/>
                <a:ea typeface="Calibri"/>
                <a:cs typeface="Calibri"/>
              </a:rPr>
              <a:t>:</a:t>
            </a:r>
            <a:r>
              <a:rPr lang="en-US" sz="2400" dirty="0" err="1">
                <a:latin typeface="Times New Roman"/>
                <a:ea typeface="Calibri"/>
                <a:cs typeface="Calibri"/>
              </a:rPr>
              <a:t>VS</a:t>
            </a:r>
            <a:r>
              <a:rPr lang="en-US" sz="2400" dirty="0">
                <a:latin typeface="Times New Roman"/>
                <a:ea typeface="Calibri"/>
                <a:cs typeface="Calibri"/>
              </a:rPr>
              <a:t> Code</a:t>
            </a:r>
          </a:p>
          <a:p>
            <a:pPr indent="-255905"/>
            <a:endParaRPr lang="en-US" sz="2400" dirty="0">
              <a:latin typeface="Times New Roman"/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5858" y="717089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96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8378" y="1858124"/>
            <a:ext cx="8229600" cy="4525963"/>
          </a:xfrm>
        </p:spPr>
        <p:txBody>
          <a:bodyPr vert="horz" lIns="91440" tIns="45720" rIns="91440" bIns="45720" anchor="t">
            <a:normAutofit/>
          </a:bodyPr>
          <a:lstStyle/>
          <a:p>
            <a:pPr indent="-255905"/>
            <a:r>
              <a:rPr lang="en-US" b="1" dirty="0"/>
              <a:t>RAM</a:t>
            </a:r>
            <a:r>
              <a:rPr lang="en-US" dirty="0"/>
              <a:t>:</a:t>
            </a:r>
            <a:r>
              <a:rPr lang="en-US" sz="2400" dirty="0">
                <a:latin typeface="Times New Roman"/>
                <a:cs typeface="Times New Roman"/>
              </a:rPr>
              <a:t>4GB RAM</a:t>
            </a:r>
          </a:p>
          <a:p>
            <a:pPr indent="-255905"/>
            <a:r>
              <a:rPr lang="en-US" b="1" dirty="0"/>
              <a:t>Disk </a:t>
            </a:r>
            <a:r>
              <a:rPr lang="en-US" b="1" dirty="0" err="1"/>
              <a:t>Space:</a:t>
            </a:r>
            <a:r>
              <a:rPr lang="en-US" sz="2400" dirty="0" err="1">
                <a:latin typeface="Times New Roman"/>
                <a:cs typeface="Times New Roman"/>
              </a:rPr>
              <a:t>Minimum</a:t>
            </a:r>
            <a:r>
              <a:rPr lang="en-US" sz="2400" dirty="0">
                <a:latin typeface="Times New Roman"/>
                <a:cs typeface="Times New Roman"/>
              </a:rPr>
              <a:t> 20GB </a:t>
            </a:r>
            <a:r>
              <a:rPr lang="en-US" sz="2400" dirty="0" err="1">
                <a:latin typeface="Times New Roman"/>
                <a:cs typeface="Times New Roman"/>
              </a:rPr>
              <a:t>FreeSpace</a:t>
            </a:r>
            <a:endParaRPr lang="en-US" sz="2400" dirty="0">
              <a:latin typeface="Times New Roman"/>
              <a:cs typeface="Times New Roman"/>
            </a:endParaRPr>
          </a:p>
          <a:p>
            <a:pPr indent="-255905"/>
            <a:r>
              <a:rPr lang="en-US" b="1" dirty="0"/>
              <a:t>Operating </a:t>
            </a:r>
            <a:r>
              <a:rPr lang="en-US" b="1" dirty="0" err="1"/>
              <a:t>System:</a:t>
            </a:r>
            <a:r>
              <a:rPr lang="en-US" sz="2400" dirty="0" err="1">
                <a:latin typeface="Times New Roman"/>
                <a:cs typeface="Times New Roman"/>
              </a:rPr>
              <a:t>Windows</a:t>
            </a:r>
            <a:r>
              <a:rPr lang="en-US" sz="2400" dirty="0">
                <a:latin typeface="Times New Roman"/>
                <a:cs typeface="Times New Roman"/>
              </a:rPr>
              <a:t> 10/11</a:t>
            </a:r>
          </a:p>
          <a:p>
            <a:pPr indent="-255905"/>
            <a:r>
              <a:rPr lang="en-US" b="1" dirty="0" err="1"/>
              <a:t>Processor</a:t>
            </a:r>
            <a:r>
              <a:rPr lang="en-US" sz="2400" dirty="0" err="1">
                <a:latin typeface="Times New Roman"/>
                <a:cs typeface="Times New Roman"/>
              </a:rPr>
              <a:t>:intel</a:t>
            </a:r>
            <a:r>
              <a:rPr lang="en-US" sz="2400" dirty="0">
                <a:latin typeface="Times New Roman"/>
                <a:cs typeface="Times New Roman"/>
              </a:rPr>
              <a:t> core i3 or higher</a:t>
            </a:r>
          </a:p>
          <a:p>
            <a:pPr indent="-255905"/>
            <a:endParaRPr lang="en-IN" dirty="0">
              <a:cs typeface="Lucida Sans Unicode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9213" y="715124"/>
            <a:ext cx="8229600" cy="11430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72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8A4FC8-817E-1087-034E-6F80D081B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26" y="1166018"/>
            <a:ext cx="8229600" cy="452596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F09294-EB2E-CD67-80A5-0286291B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844" y="717755"/>
            <a:ext cx="3006760" cy="140780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3B496472-97EC-97E7-4A3D-42F933B33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302" y="816642"/>
            <a:ext cx="5539385" cy="553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9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29737B-9486-5744-DA7A-ECBD98812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1110"/>
            <a:ext cx="8229600" cy="5486181"/>
          </a:xfrm>
        </p:spPr>
        <p:txBody>
          <a:bodyPr vert="horz" lIns="91440" tIns="45720" rIns="91440" bIns="45720" anchor="t">
            <a:normAutofit/>
          </a:bodyPr>
          <a:lstStyle/>
          <a:p>
            <a:pPr marL="109220" indent="0">
              <a:buNone/>
            </a:pPr>
            <a:r>
              <a:rPr lang="en-IN" sz="3200" b="1">
                <a:latin typeface="Times New Roman"/>
                <a:cs typeface="Times New Roman"/>
              </a:rPr>
              <a:t>Functional Requirements:</a:t>
            </a:r>
            <a:endParaRPr lang="en-US"/>
          </a:p>
          <a:p>
            <a:pPr marL="109220" indent="0">
              <a:buNone/>
            </a:pPr>
            <a:endParaRPr lang="en-IN" sz="3200" b="1" dirty="0">
              <a:latin typeface="Times New Roman"/>
              <a:ea typeface="+mn-lt"/>
              <a:cs typeface="Times New Roman"/>
            </a:endParaRPr>
          </a:p>
          <a:p>
            <a:pPr marL="285750" indent="-285750"/>
            <a:r>
              <a:rPr lang="en-US" sz="2400">
                <a:latin typeface="Times New Roman"/>
                <a:ea typeface="+mn-lt"/>
                <a:cs typeface="Times New Roman"/>
              </a:rPr>
              <a:t>Users can register and log in securely.</a:t>
            </a:r>
            <a:endParaRPr lang="en-US" altLang="en-US" sz="2400">
              <a:latin typeface="Times New Roman"/>
              <a:cs typeface="Times New Roman"/>
            </a:endParaRPr>
          </a:p>
          <a:p>
            <a:pPr marL="285750" indent="-285750"/>
            <a:r>
              <a:rPr lang="en-US" sz="2400" dirty="0">
                <a:latin typeface="Times New Roman"/>
                <a:ea typeface="+mn-lt"/>
                <a:cs typeface="Times New Roman"/>
              </a:rPr>
              <a:t>Users can submit complaints with location, and description.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/>
            <a:r>
              <a:rPr lang="en-US" sz="2400">
                <a:latin typeface="Times New Roman"/>
                <a:ea typeface="+mn-lt"/>
                <a:cs typeface="Times New Roman"/>
              </a:rPr>
              <a:t>Users can view complaint status.</a:t>
            </a:r>
            <a:endParaRPr lang="en-US">
              <a:latin typeface="Times New Roman"/>
              <a:cs typeface="Times New Roman"/>
            </a:endParaRPr>
          </a:p>
          <a:p>
            <a:pPr marL="285750" indent="-285750"/>
            <a:r>
              <a:rPr lang="en-US" sz="2400" dirty="0">
                <a:latin typeface="Times New Roman"/>
                <a:ea typeface="+mn-lt"/>
                <a:cs typeface="Times New Roman"/>
              </a:rPr>
              <a:t>Admin can view, assign, update, edit, and delete complaints.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/>
            <a:r>
              <a:rPr lang="en-US" sz="2400">
                <a:latin typeface="Times New Roman"/>
                <a:ea typeface="+mn-lt"/>
                <a:cs typeface="Times New Roman"/>
              </a:rPr>
              <a:t>The system stores all complaint data in a database.</a:t>
            </a:r>
            <a:endParaRPr lang="en-US">
              <a:latin typeface="Times New Roman"/>
              <a:cs typeface="Times New Roman"/>
            </a:endParaRPr>
          </a:p>
          <a:p>
            <a:pPr marL="109220" indent="0"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marL="109728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67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887F70-3CE8-8388-CD13-D76F3454E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832" y="2133600"/>
            <a:ext cx="6592529" cy="3313471"/>
          </a:xfrm>
        </p:spPr>
        <p:txBody>
          <a:bodyPr vert="horz" lIns="91440" tIns="45720" rIns="91440" bIns="45720" anchor="t">
            <a:normAutofit/>
          </a:bodyPr>
          <a:lstStyle/>
          <a:p>
            <a:pPr marL="109220" indent="0">
              <a:buNone/>
            </a:pPr>
            <a:r>
              <a:rPr lang="en-US" sz="2400" dirty="0">
                <a:latin typeface="Times New Roman"/>
                <a:cs typeface="Times New Roman"/>
              </a:rPr>
              <a:t>• Fast performance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/>
                <a:cs typeface="Times New Roman"/>
              </a:rPr>
              <a:t>• Secured system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/>
                <a:cs typeface="Times New Roman"/>
              </a:rPr>
              <a:t>• User-friendly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/>
                <a:cs typeface="Times New Roman"/>
              </a:rPr>
              <a:t>• Reliable </a:t>
            </a:r>
            <a:endParaRPr lang="en-US">
              <a:latin typeface="Lucida Sans Unicode"/>
              <a:cs typeface="Lucida Sans Unicode"/>
            </a:endParaRPr>
          </a:p>
          <a:p>
            <a:pPr marL="10922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•Scalability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/>
                <a:cs typeface="Times New Roman"/>
              </a:rPr>
              <a:t>• Easy to maintain and update</a:t>
            </a:r>
            <a:r>
              <a:rPr lang="en-US" dirty="0">
                <a:latin typeface="Lucida Sans Unicode"/>
                <a:cs typeface="Lucida Sans Unicode"/>
              </a:rPr>
              <a:t>.</a:t>
            </a:r>
            <a:endParaRPr lang="en-US">
              <a:cs typeface="Lucida Sans Unicod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58528-332A-98C1-7899-BD0589B9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3" y="756419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351337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77B64D-2D13-C2A9-BBDC-A0E01FC1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986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4A63F-473D-7DE1-5DA8-82762DAF8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415" y="960428"/>
            <a:ext cx="559117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77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8C6EF5-9887-D119-E380-A6CA4303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6EA4E-D318-291B-17C9-3A220901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10" y="1241165"/>
            <a:ext cx="8558980" cy="469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1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D86E76-72B3-42E5-C399-DE0A8DEA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039032" cy="11430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CD010-4DFA-18E8-8183-D7A93F5C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179871"/>
            <a:ext cx="7058025" cy="505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7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628D6-B44F-8C53-0FD0-73835299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987"/>
            <a:ext cx="8229600" cy="1143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19F31-07C5-E8AC-DE17-58D84E5F8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49994" y="1012721"/>
            <a:ext cx="5898942" cy="508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27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66869-D6DF-0473-2BCD-C0D3075F8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109855" indent="0">
              <a:buNone/>
            </a:pPr>
            <a:endParaRPr lang="en-IN" dirty="0">
              <a:cs typeface="Lucida Sans Unicode"/>
            </a:endParaRPr>
          </a:p>
          <a:p>
            <a:pPr indent="-255905"/>
            <a:r>
              <a:rPr lang="en-IN" dirty="0">
                <a:latin typeface="Times New Roman"/>
                <a:cs typeface="Times New Roman"/>
              </a:rPr>
              <a:t>An overview on complaint management </a:t>
            </a:r>
            <a:r>
              <a:rPr lang="en-IN">
                <a:latin typeface="Times New Roman"/>
                <a:cs typeface="Times New Roman"/>
              </a:rPr>
              <a:t>system:</a:t>
            </a:r>
            <a:endParaRPr lang="en-IN" dirty="0">
              <a:latin typeface="Times New Roman"/>
              <a:cs typeface="Times New Roman"/>
            </a:endParaRPr>
          </a:p>
          <a:p>
            <a:pPr marL="109855" indent="0">
              <a:buNone/>
            </a:pPr>
            <a:r>
              <a:rPr lang="en-IN" dirty="0">
                <a:cs typeface="Lucida Sans Unicode"/>
                <a:hlinkClick r:id=""/>
              </a:rPr>
              <a:t>  </a:t>
            </a:r>
            <a:r>
              <a:rPr lang="en-IN" dirty="0">
                <a:latin typeface="Times New Roman"/>
                <a:cs typeface="Times New Roman"/>
                <a:hlinkClick r:id=""/>
              </a:rPr>
              <a:t> https://ijsrst.com/paper/11170.pdf</a:t>
            </a:r>
          </a:p>
          <a:p>
            <a:pPr marL="109855" indent="0">
              <a:buNone/>
            </a:pPr>
            <a:endParaRPr lang="en-IN" dirty="0">
              <a:latin typeface="Times New Roman"/>
              <a:ea typeface="+mn-lt"/>
              <a:cs typeface="Times New Roman"/>
            </a:endParaRPr>
          </a:p>
          <a:p>
            <a:pPr indent="-255905"/>
            <a:r>
              <a:rPr lang="en-IN" dirty="0">
                <a:latin typeface="Times New Roman"/>
                <a:ea typeface="+mn-lt"/>
                <a:cs typeface="Times New Roman"/>
                <a:hlinkClick r:id="rId3"/>
              </a:rPr>
              <a:t>https://www.researchgate.net/publication/351000536_Development_of_a_Web-Based_Complaint_Management_Platform_for_a_University_Community</a:t>
            </a:r>
            <a:r>
              <a:rPr lang="en-IN" dirty="0">
                <a:latin typeface="Times New Roman"/>
                <a:ea typeface="+mn-lt"/>
                <a:cs typeface="Times New Roman"/>
              </a:rPr>
              <a:t>  (by </a:t>
            </a:r>
            <a:r>
              <a:rPr lang="en-IN" dirty="0" err="1">
                <a:latin typeface="Times New Roman"/>
                <a:ea typeface="+mn-lt"/>
                <a:cs typeface="Times New Roman"/>
              </a:rPr>
              <a:t>Reasearch</a:t>
            </a:r>
            <a:r>
              <a:rPr lang="en-IN" dirty="0">
                <a:latin typeface="Times New Roman"/>
                <a:ea typeface="+mn-lt"/>
                <a:cs typeface="Times New Roman"/>
              </a:rPr>
              <a:t> Gate-Feb 2021)</a:t>
            </a: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BC3D49-AB3E-C821-3392-EBA97B6D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</p:spTree>
    <p:extLst>
      <p:ext uri="{BB962C8B-B14F-4D97-AF65-F5344CB8AC3E}">
        <p14:creationId xmlns:p14="http://schemas.microsoft.com/office/powerpoint/2010/main" val="2692093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Thank you </a:t>
            </a: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Y_IGNORE_UCW" val="true"/>
  <p:tag name="PPT/NOTESMASTERS/NOTESMASTER1.XML" val="3342416373"/>
  <p:tag name="PPT/NOTESSLIDES/NOTESSLIDE1.XML" val="732038687"/>
  <p:tag name="PPT/SLIDES/SLIDE7.XML" val="202416906"/>
  <p:tag name="PPT/SLIDES/SLIDE3.XML" val="3000389335"/>
  <p:tag name="PPT/THEME/THEME2.XML" val="3520736427"/>
  <p:tag name="PPT/SLIDES/SLIDE1.XML" val="3079446035"/>
  <p:tag name="PPT/NOTESSLIDES/NOTESSLIDE2.XML" val="3217023394"/>
  <p:tag name="PPT/SLIDES/SLIDE6.XML" val="336172540"/>
  <p:tag name="PPT/SLIDES/SLIDE2.XML" val="3225013204"/>
  <p:tag name="PPT/SLIDES/SLIDE4.XML" val="4277083425"/>
  <p:tag name="PPT/SLIDES/SLIDE5.XML" val="3634802493"/>
  <p:tag name="PPT/SLIDELAYOUTS/SLIDELAYOUT11.XML" val="708723177"/>
  <p:tag name="PPT/SLIDELAYOUTS/SLIDELAYOUT3.XML" val="2415542003"/>
  <p:tag name="PPT/SLIDELAYOUTS/SLIDELAYOUT2.XML" val="2868036188"/>
  <p:tag name="PPT/SLIDELAYOUTS/SLIDELAYOUT1.XML" val="2404199055"/>
  <p:tag name="PPT/SLIDEMASTERS/SLIDEMASTER1.XML" val="4075563660"/>
  <p:tag name="PPT/SLIDELAYOUTS/SLIDELAYOUT4.XML" val="2162813636"/>
  <p:tag name="PPT/SLIDELAYOUTS/SLIDELAYOUT6.XML" val="3416921023"/>
  <p:tag name="PPT/SLIDELAYOUTS/SLIDELAYOUT10.XML" val="1354617139"/>
  <p:tag name="PPT/SLIDELAYOUTS/SLIDELAYOUT5.XML" val="2380332523"/>
  <p:tag name="PPT/SLIDELAYOUTS/SLIDELAYOUT9.XML" val="3470237638"/>
  <p:tag name="PPT/SLIDELAYOUTS/SLIDELAYOUT7.XML" val="708863170"/>
  <p:tag name="PPT/SLIDELAYOUTS/SLIDELAYOUT8.XML" val="164330248"/>
  <p:tag name="PPT/THEME/THEME1.XML" val="2452160330"/>
  <p:tag name="PPT/MEDIA/IMAGE1.JPEG" val="3114202309"/>
  <p:tag name="PPT/MEDIA/IMAGE2.PNG" val="85506146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683</Words>
  <Application>Microsoft Office PowerPoint</Application>
  <PresentationFormat>On-screen Show (4:3)</PresentationFormat>
  <Paragraphs>83</Paragraphs>
  <Slides>18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Concourse</vt:lpstr>
      <vt:lpstr>CVR COLLEGE OF ENGINEERING</vt:lpstr>
      <vt:lpstr>Outline</vt:lpstr>
      <vt:lpstr>Abstract</vt:lpstr>
      <vt:lpstr>Introduction </vt:lpstr>
      <vt:lpstr>Problem Definition: </vt:lpstr>
      <vt:lpstr>PowerPoint Presentation</vt:lpstr>
      <vt:lpstr>PowerPoint Presentation</vt:lpstr>
      <vt:lpstr>Software Requirements</vt:lpstr>
      <vt:lpstr>Hardware Requirements</vt:lpstr>
      <vt:lpstr>System Architecture:</vt:lpstr>
      <vt:lpstr>PowerPoint Presentation</vt:lpstr>
      <vt:lpstr>NON FUNCTIONAL REQUIREMENTS</vt:lpstr>
      <vt:lpstr>UseCase Diagram:</vt:lpstr>
      <vt:lpstr>Class Diagram</vt:lpstr>
      <vt:lpstr>Sequence Diagram:</vt:lpstr>
      <vt:lpstr>Activity Diagram: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MAMIDALA DEEKSHITHA</dc:creator>
  <cp:lastModifiedBy>MAMIDALA DEEKSHITHA</cp:lastModifiedBy>
  <cp:revision>232</cp:revision>
  <dcterms:modified xsi:type="dcterms:W3CDTF">2026-02-21T05:47:49Z</dcterms:modified>
</cp:coreProperties>
</file>